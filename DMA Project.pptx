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6" r:id="rId17"/>
    <p:sldId id="277" r:id="rId18"/>
    <p:sldId id="278" r:id="rId19"/>
    <p:sldId id="279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376421"/>
            <a:ext cx="12189714" cy="4792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19" y="1241298"/>
            <a:ext cx="507492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7051" y="6445541"/>
            <a:ext cx="228663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8151" y="6445541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413" y="230239"/>
            <a:ext cx="1567174" cy="171295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52600" y="2675363"/>
            <a:ext cx="8915400" cy="2523768"/>
          </a:xfrm>
        </p:spPr>
        <p:txBody>
          <a:bodyPr/>
          <a:lstStyle/>
          <a:p>
            <a:pPr algn="ctr"/>
            <a:br>
              <a:rPr lang="en-US" sz="3600" dirty="0">
                <a:solidFill>
                  <a:srgbClr val="202429"/>
                </a:solidFill>
                <a:latin typeface="Arial MT"/>
                <a:cs typeface="Arial MT"/>
              </a:rPr>
            </a:b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Sonic-Self: An Analysis of Music's Relationship with Student Wellbeing</a:t>
            </a:r>
            <a:br>
              <a:rPr lang="en-IN" sz="1800" b="1" kern="0" dirty="0">
                <a:effectLst/>
                <a:latin typeface="Arial" panose="020B0604020202020204" pitchFamily="34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8200" y="472440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Project Report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6253" y="1943196"/>
            <a:ext cx="6593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Br. AMBEDKAR NATIONAL INSTITUTE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OF TECHNOLOGY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648200" y="4724400"/>
            <a:ext cx="289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48200" y="5186065"/>
            <a:ext cx="2971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4800" y="5534561"/>
            <a:ext cx="3581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Ritik Gupta - 23103122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Rishi Raj Anand - 23103121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5801" y="5534561"/>
            <a:ext cx="3792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Jagdeep Kaur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2756535" algn="l"/>
              </a:tabLst>
            </a:pPr>
            <a:r>
              <a:rPr lang="en-US" spc="-10" dirty="0"/>
              <a:t>              INTRODUCTION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81000" y="1497533"/>
            <a:ext cx="11525808" cy="3613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Study explores </a:t>
            </a:r>
            <a:r>
              <a:rPr lang="en-US" b="1" dirty="0"/>
              <a:t>how music habits relate to overall life satisfaction</a:t>
            </a:r>
            <a:r>
              <a:rPr lang="en-US" dirty="0"/>
              <a:t> in college students.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College life involves </a:t>
            </a:r>
            <a:r>
              <a:rPr lang="en-US" b="1" dirty="0"/>
              <a:t>high academic pressure</a:t>
            </a:r>
            <a:r>
              <a:rPr lang="en-US" dirty="0"/>
              <a:t> and </a:t>
            </a:r>
            <a:r>
              <a:rPr lang="en-US" b="1" dirty="0"/>
              <a:t>social changes</a:t>
            </a:r>
            <a:r>
              <a:rPr lang="en-US" dirty="0"/>
              <a:t> affecting wellbeing.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question: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Is it what students listen to, or how they use music, that impacts life satisfaction?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collected across 4 key areas: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Life Satisfaction</a:t>
            </a:r>
            <a:r>
              <a:rPr lang="en-US" dirty="0"/>
              <a:t> – Self-rated score (1–10)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Foundational Health</a:t>
            </a:r>
            <a:r>
              <a:rPr lang="en-US" dirty="0"/>
              <a:t> – Sleep duration, social circle size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Music Habits</a:t>
            </a:r>
            <a:r>
              <a:rPr lang="en-US" dirty="0"/>
              <a:t> – Listening time, platforms, genres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Emotional Function</a:t>
            </a:r>
            <a:r>
              <a:rPr lang="en-US" dirty="0"/>
              <a:t> – Feelings experienced while listening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finding: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Sleep and social connections are main wellbeing drivers.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Music acts as an emotional regulator</a:t>
            </a:r>
            <a:r>
              <a:rPr lang="en-US" dirty="0"/>
              <a:t>—how it’s used matters more than genre.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music to </a:t>
            </a:r>
            <a:r>
              <a:rPr lang="en-US" b="1" dirty="0"/>
              <a:t>calm, focus, or process emotions</a:t>
            </a:r>
            <a:r>
              <a:rPr lang="en-US" dirty="0"/>
              <a:t> strongly correlates with higher life satisfaction.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04942"/>
            <a:ext cx="11049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 data from college students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life_satisfaction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(score 1–10)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key factors influencing life satisfaction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Predictor Variables: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 Factors: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Sleep duration, Social circle size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Music Habits: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Listening hours/day, Platform (Spotify, YouTube, etc.), Genres, Feelings while listening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Stages: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Univariate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Visualized individual factors (sleep, music use, satisfaction) to profile average students.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Bivariate &amp; Multivariate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violin plots, boxplots, heatmaps to study relationships between variables.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Modeling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Tree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rpart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rank factors affecting life satisfaction and derive “if–then” rules.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18" y="2095341"/>
            <a:ext cx="5140325" cy="332359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Wellbeing scores are not normally distributed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life satisfaction score = 7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 cluster (3–5 range)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a “struggling” group.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two student segments: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thriving vs. struggling — key factors analyzed to differentiate them.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image1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791200" y="1456333"/>
            <a:ext cx="5978525" cy="4350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4913" y="1454013"/>
            <a:ext cx="5174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1: Distribution of Student Life Satisfaction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18" y="2095341"/>
            <a:ext cx="5334000" cy="30778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sleep duration: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5–6 hours (98 students).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most common: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7–8 hours (76 students).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students are clinically sleep-deprived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sleep deficiency is a key factor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affecting life satisfaction.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14913" y="1456333"/>
            <a:ext cx="5653713" cy="921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2: Sleep Duration Distribution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7" name="image3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306797" y="990600"/>
            <a:ext cx="6728564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19" y="2095340"/>
            <a:ext cx="4964482" cy="301625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1–3 hours/day (85 students).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than 1 hour/day (56 students).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group: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than 5 hours/day (34 students).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moderate listening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norm, with a few heavy listeners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7510" y="1438672"/>
            <a:ext cx="517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3: Daily Music Listening Duration</a:t>
            </a:r>
            <a:endParaRPr lang="en-IN" dirty="0"/>
          </a:p>
        </p:txBody>
      </p:sp>
      <p:pic>
        <p:nvPicPr>
          <p:cNvPr id="7" name="image2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876800" y="980519"/>
            <a:ext cx="7174281" cy="48969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315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70" y="2095500"/>
            <a:ext cx="5511800" cy="1661795"/>
          </a:xfrm>
        </p:spPr>
        <p:txBody>
          <a:bodyPr wrap="square"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Domination: Spotify leads with 51% of listeners.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Second: YouTube Music holds 26% of the market.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Behavior: This suggests algorithmic, playlist-driven listening is the norm.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14913" y="1454013"/>
            <a:ext cx="5174739" cy="683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4: Most Used Listening Platforms</a:t>
            </a:r>
            <a:endParaRPr lang="en-IN" sz="18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b="1" dirty="0"/>
          </a:p>
        </p:txBody>
      </p:sp>
      <p:pic>
        <p:nvPicPr>
          <p:cNvPr id="7" name="image5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795645" y="1157605"/>
            <a:ext cx="6396355" cy="4481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14913" y="1454013"/>
            <a:ext cx="5174739" cy="38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5: Top 10 Most Popular Genres</a:t>
            </a:r>
            <a:endParaRPr lang="en-IN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039" y="2119743"/>
            <a:ext cx="5611761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genres: New Bollywood (92) and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Rock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Phonk</a:t>
            </a:r>
            <a:r>
              <a:rPr kumimoji="0" lang="en-IN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/Hip-hop (86).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Notable trend: “Sad/Emotional” music (66) ranks high.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students often choose music for emotional connection, not just style.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Indicates music’s emotional role in coping and self-expression.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4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847080" y="1287780"/>
            <a:ext cx="6165215" cy="4500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4718" y="1410217"/>
            <a:ext cx="5174739" cy="685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6: Life Satisfaction by Sleep Duration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image7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943600" y="822242"/>
            <a:ext cx="6183682" cy="5182550"/>
          </a:xfrm>
          <a:prstGeom prst="rect">
            <a:avLst/>
          </a:prstGeom>
        </p:spPr>
      </p:pic>
      <p:sp>
        <p:nvSpPr>
          <p:cNvPr id="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258814"/>
            <a:ext cx="5975719" cy="203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TLiti" panose="02010800040101010101" charset="-122"/>
                <a:cs typeface="Times New Roman" panose="02020603050405020304" pitchFamily="18" charset="0"/>
              </a:rPr>
              <a:t>Clear positive relationship between sleep and life satisfaction.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TLiti" panose="02010800040101010101" charset="-122"/>
                <a:cs typeface="Times New Roman" panose="02020603050405020304" pitchFamily="18" charset="0"/>
              </a:rPr>
              <a:t>Longer sleep → higher median satisfaction scores.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TLiti" panose="02010800040101010101" charset="-122"/>
                <a:cs typeface="Times New Roman" panose="02020603050405020304" pitchFamily="18" charset="0"/>
              </a:rPr>
              <a:t>Students sleeping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TLiti" panose="02010800040101010101" charset="-122"/>
                <a:cs typeface="Times New Roman" panose="02020603050405020304" pitchFamily="18" charset="0"/>
              </a:rPr>
              <a:t>&lt;4 hours report the lowest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TLiti" panose="02010800040101010101" charset="-122"/>
                <a:cs typeface="Times New Roman" panose="02020603050405020304" pitchFamily="18" charset="0"/>
              </a:rPr>
              <a:t>Confirms sleep as a key predictor of overall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TLiti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3660" y="1438910"/>
            <a:ext cx="5095240" cy="560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7: Life Satisfaction by Social Circle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4000"/>
              </a:lnSpc>
            </a:pPr>
            <a:endParaRPr lang="en-IN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336" y="2348870"/>
            <a:ext cx="6455274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“Lonewolf” students show lowest median satisfaction and high variance.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satisfaction rises with larger social circles.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2–3 or more close friends report higher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social connection as a key wellbeing factor.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960" y="1191260"/>
            <a:ext cx="5868035" cy="47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18" y="2095341"/>
            <a:ext cx="5140325" cy="553998"/>
          </a:xfrm>
        </p:spPr>
        <p:txBody>
          <a:bodyPr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181" y="1456333"/>
            <a:ext cx="5554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8: Life Satisfaction by Daily Listening Hours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810000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202" y="2196462"/>
            <a:ext cx="6084039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satisfaction: 1–3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3–5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/day listeners.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satisfaction: &lt;1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&gt;5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/day groups.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Suggests excessive listening may reflect escapism or coping with low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is non-linear — more music ≠ more happiness.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9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791200" y="950136"/>
            <a:ext cx="6392619" cy="4917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0137" y="1306112"/>
            <a:ext cx="5577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9: Proportion of Feelings Reported by Genre Listeners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092" y="2339494"/>
            <a:ext cx="5253998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genre shows a unique emotional correlation pattern.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Instrumental → Relaxed &amp; Calm (0.41)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Rock/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/Hip-hop → Energetic (0.34)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Sad/Emotional → Relaxed &amp; Calm (0.40) →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“Sad music paradox”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8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555615" y="1678305"/>
            <a:ext cx="6271260" cy="4318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0137" y="1306112"/>
            <a:ext cx="5577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10: Life Satisfaction by Reported Emotional Effect of Music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4913" y="2224870"/>
            <a:ext cx="5044113" cy="31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finding: </a:t>
            </a:r>
            <a:r>
              <a:rPr lang="en-US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use music matters more than </a:t>
            </a:r>
            <a:r>
              <a:rPr lang="en-US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listen to.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satisfaction: Students using music to feel Relaxed or Energetic.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satisfaction: Those feeling More Emotional while listening.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“Function &gt; Content” hypothesis — music’s purpose drives wellbeing impact.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12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953000" y="1624918"/>
            <a:ext cx="7166908" cy="45472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0137" y="1306112"/>
            <a:ext cx="5577513" cy="100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11: Average Life Satisfaction by Sleep and Social Circle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3" name="image10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029200" y="1681530"/>
            <a:ext cx="7162800" cy="449067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718" y="2446070"/>
            <a:ext cx="5033962" cy="31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and social connection act additively to influence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scores (1.0–2.6): Students sleeping &lt;4 hours.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scores (8.6–10): Students sleeping 8+ hours.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 in well-rested groups shows other factors (like social life) also play a major role.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0137" y="1306113"/>
            <a:ext cx="4760463" cy="100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12: Regression Tree for Student Life Satisfaction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3" name="image11.png" descr="x2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952999" y="914400"/>
            <a:ext cx="7198863" cy="5181600"/>
          </a:xfrm>
          <a:prstGeom prst="rect">
            <a:avLst/>
          </a:prstGeom>
        </p:spPr>
      </p:pic>
      <p:sp>
        <p:nvSpPr>
          <p:cNvPr id="1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15" y="1926629"/>
            <a:ext cx="5301072" cy="424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Split: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&lt; 4 hours → lowest satisfaction → confirms sleep as top predictor.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Secondary Split: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well-rested students, key factor is “Does music make you feel relaxed?”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Emotional function of music outweighs social or time factors.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Leaf Profiles: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group: &lt;4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 + irregular routine → avg. score 2.9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group: Adequate sleep + relaxed-by-music + Spotify → scores 6.1–7.1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Reveals a hierarchy of wellbeing needs — sleep first, emotional music function next.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and Analysis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Profile of the Student Cohort:</a:t>
            </a:r>
            <a:endParaRPr lang="en-IN" sz="2800" b="1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76199" y="1306937"/>
            <a:ext cx="5181600" cy="100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 13: Predictor Importance for Life Satisfaction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image13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216821" y="987586"/>
            <a:ext cx="6950200" cy="5260813"/>
          </a:xfrm>
          <a:prstGeom prst="rect">
            <a:avLst/>
          </a:prstGeom>
        </p:spPr>
      </p:pic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979" y="2405854"/>
            <a:ext cx="5011738" cy="341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is the strongest predictor of student wellbeing.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 most important: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Music’s emotional 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feeling relaxed while listening.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Confirms: Foundational health (sleep) 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 function (relaxation) &gt; Music content (genre).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Quantitatively supports the core thesis — wellbeing depends 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music is used, not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heard.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899" y="221437"/>
            <a:ext cx="6950201" cy="615553"/>
          </a:xfrm>
        </p:spPr>
        <p:txBody>
          <a:bodyPr/>
          <a:lstStyle/>
          <a:p>
            <a:pPr algn="ctr"/>
            <a:r>
              <a:rPr lang="en-IN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IN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-14913" y="84928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32" y="1372176"/>
            <a:ext cx="12341942" cy="313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hierarchy of wellbeing factors identified from student data.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is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strongest predictor of life satisfaction;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connection also key.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Music’s emotional function &gt; genre type — “Function over Content” confirmed.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Thriving students: well-rested, socially connected, use music for calm &amp; focus.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Struggling students: sleep-deprived, use music to amplify negative emotions.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insight: Wellbeing = 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health foundation + mindful music use.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1400" y="2514600"/>
            <a:ext cx="4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THANK YOU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6870</Words>
  <Application>WPS Presentation</Application>
  <PresentationFormat>Widescreen</PresentationFormat>
  <Paragraphs>276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Arial</vt:lpstr>
      <vt:lpstr>Arial MT</vt:lpstr>
      <vt:lpstr>Times New Roman</vt:lpstr>
      <vt:lpstr>Arial Unicode MS</vt:lpstr>
      <vt:lpstr>Microsoft YaHei</vt:lpstr>
      <vt:lpstr>Arial Unicode MS</vt:lpstr>
      <vt:lpstr>Calibri</vt:lpstr>
      <vt:lpstr>STLiti</vt:lpstr>
      <vt:lpstr>Office Theme</vt:lpstr>
      <vt:lpstr>  Sonic-Self: An Analysis of Music's Relationship with Student Wellbeing  </vt:lpstr>
      <vt:lpstr>              INTRODUCTION</vt:lpstr>
      <vt:lpstr>METHODOLOGY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Results and Analysis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Rishi Raj Anand</cp:lastModifiedBy>
  <cp:revision>10</cp:revision>
  <dcterms:created xsi:type="dcterms:W3CDTF">2024-09-24T17:26:00Z</dcterms:created>
  <dcterms:modified xsi:type="dcterms:W3CDTF">2025-11-14T12:17:24Z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2024-09-23T05:30:00Z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2024-09-24T05:30:00Z</vt:filetime>
  </property>
  <property fmtid="{D5CDD505-2E9C-101B-9397-08002B2CF9AE}" pid="5" name="Producer">
    <vt:lpwstr>Microsoft® PowerPoint® 2021</vt:lpwstr>
  </property>
  <property fmtid="{D5CDD505-2E9C-101B-9397-08002B2CF9AE}" pid="6" name="ICV">
    <vt:lpwstr>3D385A94F933477B9EFACCB525985A08_12</vt:lpwstr>
  </property>
  <property fmtid="{D5CDD505-2E9C-101B-9397-08002B2CF9AE}" pid="7" name="KSOProductBuildVer">
    <vt:lpwstr>1033-12.2.0.23155</vt:lpwstr>
  </property>
</Properties>
</file>